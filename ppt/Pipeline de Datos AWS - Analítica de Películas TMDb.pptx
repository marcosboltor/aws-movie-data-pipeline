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Liter" charset="-122" pitchFamily="34"/>
      <p:regular r:id="rId21"/>
    </p:embeddedFon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oakm7ykl2k76/mnt/agents/output/aws_tmdb_presentation/images/4_950_Aws_Cloud_Background_Royalty.png">    </p:cNvPr>
          <p:cNvPicPr>
            <a:picLocks noChangeAspect="1"/>
          </p:cNvPicPr>
          <p:nvPr/>
        </p:nvPicPr>
        <p:blipFill>
          <a:blip r:embed="rId1"/>
          <a:srcRect l="74" r="7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E1A">
                  <a:alpha val="94000"/>
                </a:srgbClr>
              </a:gs>
              <a:gs pos="55000">
                <a:srgbClr val="0A0E1A">
                  <a:alpha val="75000"/>
                </a:srgbClr>
              </a:gs>
              <a:gs pos="100000">
                <a:srgbClr val="0A0E1A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spc="300" kern="0" dirty="0">
                <a:solidFill>
                  <a:srgbClr val="FF99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PROYECTO AWS / TMDB / POWER BI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16000" y="2794000"/>
            <a:ext cx="889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200" spc="200" kern="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DATOS AWS</a:t>
            </a:r>
            <a:endParaRPr lang="en-US" sz="5200" dirty="0"/>
          </a:p>
          <a:p>
            <a:pPr>
              <a:lnSpc>
                <a:spcPct val="110000"/>
              </a:lnSpc>
            </a:pPr>
            <a:r>
              <a:rPr lang="en-US" sz="5200" spc="200" kern="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ANALÍTICA DE PELÍCULAS TMDB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1016000" y="5778500"/>
            <a:ext cx="1016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6032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E0E2E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 Medallion automatizada de punta a punta: Bronze, Silver, Gold y visualización ejecutiva en Power BI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6000" y="812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Mayo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6000" y="8458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Versión 3.0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7874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1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spc="300" kern="0" dirty="0">
                <a:solidFill>
                  <a:srgbClr val="FF99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AGENDA EJECUTIVA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397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200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762000" cy="381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02000"/>
            <a:ext cx="1016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49500" y="3365500"/>
            <a:ext cx="425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 de Negocio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49500" y="3810000"/>
            <a:ext cx="425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Evaluación de mercado audiovisual y preguntas estratégicas del pipeline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5016500"/>
            <a:ext cx="5588000" cy="12700"/>
          </a:xfrm>
          <a:prstGeom prst="rect">
            <a:avLst/>
          </a:prstGeom>
          <a:solidFill>
            <a:srgbClr val="E0E2E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334000"/>
            <a:ext cx="114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49500" y="5397500"/>
            <a:ext cx="425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y Tecnología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49500" y="5842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 event-driven serverless, servicios AWS y flujo técnico automatizado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6858000"/>
            <a:ext cx="5588000" cy="12700"/>
          </a:xfrm>
          <a:prstGeom prst="rect">
            <a:avLst/>
          </a:prstGeom>
          <a:solidFill>
            <a:srgbClr val="E0E2E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366000"/>
            <a:ext cx="1143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49500" y="7429500"/>
            <a:ext cx="425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Implementación y Resultados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49500" y="78740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Tablas Gold, visualización Power BI, decisiones de costo y evolución del proyecto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74000" y="1016000"/>
            <a:ext cx="7620000" cy="7112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8" name="Shape 16"/>
          <p:cNvSpPr/>
          <p:nvPr/>
        </p:nvSpPr>
        <p:spPr>
          <a:xfrm>
            <a:off x="8674100" y="2032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114300"/>
                </a:moveTo>
                <a:cubicBezTo>
                  <a:pt x="0" y="72271"/>
                  <a:pt x="34171" y="38100"/>
                  <a:pt x="76200" y="38100"/>
                </a:cubicBezTo>
                <a:lnTo>
                  <a:pt x="457200" y="38100"/>
                </a:lnTo>
                <a:cubicBezTo>
                  <a:pt x="499229" y="38100"/>
                  <a:pt x="533400" y="72271"/>
                  <a:pt x="533400" y="114300"/>
                </a:cubicBezTo>
                <a:lnTo>
                  <a:pt x="533400" y="495300"/>
                </a:lnTo>
                <a:cubicBezTo>
                  <a:pt x="533400" y="537329"/>
                  <a:pt x="499229" y="571500"/>
                  <a:pt x="457200" y="571500"/>
                </a:cubicBezTo>
                <a:lnTo>
                  <a:pt x="76200" y="571500"/>
                </a:lnTo>
                <a:cubicBezTo>
                  <a:pt x="34171" y="571500"/>
                  <a:pt x="0" y="537329"/>
                  <a:pt x="0" y="495300"/>
                </a:cubicBezTo>
                <a:lnTo>
                  <a:pt x="0" y="114300"/>
                </a:lnTo>
                <a:close/>
                <a:moveTo>
                  <a:pt x="57150" y="438150"/>
                </a:moveTo>
                <a:lnTo>
                  <a:pt x="57150" y="476250"/>
                </a:lnTo>
                <a:cubicBezTo>
                  <a:pt x="57150" y="486728"/>
                  <a:pt x="65723" y="495300"/>
                  <a:pt x="76200" y="495300"/>
                </a:cubicBezTo>
                <a:lnTo>
                  <a:pt x="114300" y="495300"/>
                </a:lnTo>
                <a:cubicBezTo>
                  <a:pt x="124777" y="495300"/>
                  <a:pt x="133350" y="486728"/>
                  <a:pt x="133350" y="476250"/>
                </a:cubicBezTo>
                <a:lnTo>
                  <a:pt x="133350" y="438150"/>
                </a:lnTo>
                <a:cubicBezTo>
                  <a:pt x="133350" y="427673"/>
                  <a:pt x="124777" y="419100"/>
                  <a:pt x="114300" y="419100"/>
                </a:cubicBezTo>
                <a:lnTo>
                  <a:pt x="76200" y="419100"/>
                </a:lnTo>
                <a:cubicBezTo>
                  <a:pt x="65723" y="419100"/>
                  <a:pt x="57150" y="427673"/>
                  <a:pt x="57150" y="438150"/>
                </a:cubicBezTo>
                <a:close/>
                <a:moveTo>
                  <a:pt x="419100" y="419100"/>
                </a:moveTo>
                <a:cubicBezTo>
                  <a:pt x="408623" y="419100"/>
                  <a:pt x="400050" y="427673"/>
                  <a:pt x="400050" y="438150"/>
                </a:cubicBezTo>
                <a:lnTo>
                  <a:pt x="400050" y="476250"/>
                </a:lnTo>
                <a:cubicBezTo>
                  <a:pt x="400050" y="486728"/>
                  <a:pt x="408623" y="495300"/>
                  <a:pt x="419100" y="495300"/>
                </a:cubicBezTo>
                <a:lnTo>
                  <a:pt x="457200" y="495300"/>
                </a:lnTo>
                <a:cubicBezTo>
                  <a:pt x="467678" y="495300"/>
                  <a:pt x="476250" y="486728"/>
                  <a:pt x="476250" y="476250"/>
                </a:cubicBezTo>
                <a:lnTo>
                  <a:pt x="476250" y="438150"/>
                </a:lnTo>
                <a:cubicBezTo>
                  <a:pt x="476250" y="427673"/>
                  <a:pt x="467678" y="419100"/>
                  <a:pt x="457200" y="419100"/>
                </a:cubicBezTo>
                <a:lnTo>
                  <a:pt x="419100" y="419100"/>
                </a:lnTo>
                <a:close/>
                <a:moveTo>
                  <a:pt x="57150" y="285750"/>
                </a:moveTo>
                <a:lnTo>
                  <a:pt x="57150" y="323850"/>
                </a:lnTo>
                <a:cubicBezTo>
                  <a:pt x="57150" y="334328"/>
                  <a:pt x="65723" y="342900"/>
                  <a:pt x="76200" y="342900"/>
                </a:cubicBezTo>
                <a:lnTo>
                  <a:pt x="114300" y="342900"/>
                </a:lnTo>
                <a:cubicBezTo>
                  <a:pt x="124777" y="342900"/>
                  <a:pt x="133350" y="334328"/>
                  <a:pt x="133350" y="323850"/>
                </a:cubicBezTo>
                <a:lnTo>
                  <a:pt x="133350" y="285750"/>
                </a:lnTo>
                <a:cubicBezTo>
                  <a:pt x="133350" y="275273"/>
                  <a:pt x="124777" y="266700"/>
                  <a:pt x="114300" y="266700"/>
                </a:cubicBezTo>
                <a:lnTo>
                  <a:pt x="76200" y="266700"/>
                </a:lnTo>
                <a:cubicBezTo>
                  <a:pt x="65723" y="266700"/>
                  <a:pt x="57150" y="275273"/>
                  <a:pt x="57150" y="285750"/>
                </a:cubicBezTo>
                <a:close/>
                <a:moveTo>
                  <a:pt x="419100" y="266700"/>
                </a:moveTo>
                <a:cubicBezTo>
                  <a:pt x="408623" y="266700"/>
                  <a:pt x="400050" y="275273"/>
                  <a:pt x="400050" y="285750"/>
                </a:cubicBezTo>
                <a:lnTo>
                  <a:pt x="400050" y="323850"/>
                </a:lnTo>
                <a:cubicBezTo>
                  <a:pt x="400050" y="334328"/>
                  <a:pt x="408623" y="342900"/>
                  <a:pt x="419100" y="342900"/>
                </a:cubicBezTo>
                <a:lnTo>
                  <a:pt x="457200" y="342900"/>
                </a:lnTo>
                <a:cubicBezTo>
                  <a:pt x="467678" y="342900"/>
                  <a:pt x="476250" y="334328"/>
                  <a:pt x="476250" y="323850"/>
                </a:cubicBezTo>
                <a:lnTo>
                  <a:pt x="476250" y="285750"/>
                </a:lnTo>
                <a:cubicBezTo>
                  <a:pt x="476250" y="275273"/>
                  <a:pt x="467678" y="266700"/>
                  <a:pt x="457200" y="266700"/>
                </a:cubicBezTo>
                <a:lnTo>
                  <a:pt x="419100" y="266700"/>
                </a:lnTo>
                <a:close/>
                <a:moveTo>
                  <a:pt x="57150" y="133350"/>
                </a:moveTo>
                <a:lnTo>
                  <a:pt x="57150" y="171450"/>
                </a:lnTo>
                <a:cubicBezTo>
                  <a:pt x="57150" y="181928"/>
                  <a:pt x="65723" y="190500"/>
                  <a:pt x="76200" y="190500"/>
                </a:cubicBezTo>
                <a:lnTo>
                  <a:pt x="114300" y="190500"/>
                </a:lnTo>
                <a:cubicBezTo>
                  <a:pt x="124777" y="190500"/>
                  <a:pt x="133350" y="181928"/>
                  <a:pt x="133350" y="171450"/>
                </a:cubicBezTo>
                <a:lnTo>
                  <a:pt x="133350" y="133350"/>
                </a:lnTo>
                <a:cubicBezTo>
                  <a:pt x="133350" y="122873"/>
                  <a:pt x="124777" y="114300"/>
                  <a:pt x="114300" y="114300"/>
                </a:cubicBezTo>
                <a:lnTo>
                  <a:pt x="76200" y="114300"/>
                </a:lnTo>
                <a:cubicBezTo>
                  <a:pt x="65723" y="114300"/>
                  <a:pt x="57150" y="122873"/>
                  <a:pt x="57150" y="133350"/>
                </a:cubicBezTo>
                <a:close/>
                <a:moveTo>
                  <a:pt x="419100" y="114300"/>
                </a:moveTo>
                <a:cubicBezTo>
                  <a:pt x="408623" y="114300"/>
                  <a:pt x="400050" y="122873"/>
                  <a:pt x="400050" y="133350"/>
                </a:cubicBezTo>
                <a:lnTo>
                  <a:pt x="400050" y="171450"/>
                </a:lnTo>
                <a:cubicBezTo>
                  <a:pt x="400050" y="181928"/>
                  <a:pt x="408623" y="190500"/>
                  <a:pt x="419100" y="190500"/>
                </a:cubicBezTo>
                <a:lnTo>
                  <a:pt x="457200" y="190500"/>
                </a:lnTo>
                <a:cubicBezTo>
                  <a:pt x="467678" y="190500"/>
                  <a:pt x="476250" y="181928"/>
                  <a:pt x="476250" y="171450"/>
                </a:cubicBezTo>
                <a:lnTo>
                  <a:pt x="476250" y="133350"/>
                </a:lnTo>
                <a:cubicBezTo>
                  <a:pt x="476250" y="122873"/>
                  <a:pt x="467678" y="114300"/>
                  <a:pt x="457200" y="114300"/>
                </a:cubicBezTo>
                <a:lnTo>
                  <a:pt x="419100" y="114300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2095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TMDb API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928100" y="2921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8C92A4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7900" y="3556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400050"/>
                </a:moveTo>
                <a:cubicBezTo>
                  <a:pt x="0" y="494705"/>
                  <a:pt x="76795" y="571500"/>
                  <a:pt x="171450" y="571500"/>
                </a:cubicBezTo>
                <a:lnTo>
                  <a:pt x="533400" y="571500"/>
                </a:lnTo>
                <a:cubicBezTo>
                  <a:pt x="617577" y="571500"/>
                  <a:pt x="685800" y="503277"/>
                  <a:pt x="685800" y="419100"/>
                </a:cubicBezTo>
                <a:cubicBezTo>
                  <a:pt x="685800" y="357664"/>
                  <a:pt x="649486" y="304681"/>
                  <a:pt x="597098" y="280630"/>
                </a:cubicBezTo>
                <a:cubicBezTo>
                  <a:pt x="605076" y="265033"/>
                  <a:pt x="609600" y="247293"/>
                  <a:pt x="609600" y="228600"/>
                </a:cubicBezTo>
                <a:cubicBezTo>
                  <a:pt x="609600" y="165497"/>
                  <a:pt x="558403" y="114300"/>
                  <a:pt x="495300" y="114300"/>
                </a:cubicBezTo>
                <a:cubicBezTo>
                  <a:pt x="474226" y="114300"/>
                  <a:pt x="454581" y="120015"/>
                  <a:pt x="437674" y="129897"/>
                </a:cubicBezTo>
                <a:cubicBezTo>
                  <a:pt x="408980" y="75367"/>
                  <a:pt x="351711" y="38100"/>
                  <a:pt x="285750" y="38100"/>
                </a:cubicBezTo>
                <a:cubicBezTo>
                  <a:pt x="191095" y="38100"/>
                  <a:pt x="114300" y="114895"/>
                  <a:pt x="114300" y="209550"/>
                </a:cubicBezTo>
                <a:cubicBezTo>
                  <a:pt x="114300" y="219075"/>
                  <a:pt x="115133" y="228481"/>
                  <a:pt x="116562" y="237530"/>
                </a:cubicBezTo>
                <a:cubicBezTo>
                  <a:pt x="48816" y="260390"/>
                  <a:pt x="0" y="324564"/>
                  <a:pt x="0" y="40005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0" y="3619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AWS Serverless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28100" y="4445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8C92A4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6000" y="508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0" y="5143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en Power BI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 de Datos AWS - TMDb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381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 DE NEGOCIO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5207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Evaluación de mercado audiovisual para toma de decisiones de contenido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 rot="2700000">
            <a:off x="13335000" y="5715000"/>
            <a:ext cx="1524000" cy="1524000"/>
          </a:xfrm>
          <a:prstGeom prst="rect">
            <a:avLst/>
          </a:prstGeom>
          <a:solidFill>
            <a:srgbClr val="FF9900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13970000" y="6604000"/>
            <a:ext cx="1016000" cy="1016000"/>
          </a:xfrm>
          <a:prstGeom prst="rect">
            <a:avLst/>
          </a:prstGeom>
          <a:solidFill>
            <a:srgbClr val="FF9900">
              <a:alpha val="6275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Caso de Negocio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de mercado para decisiones de contenido audiovisual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Una empresa de streaming necesita evaluar el mercado reciente de películas populares para decidir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qué géneros adquirir, qué títulos promocionar y qué contenido evitar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El pipeline consume datos de TMDb (popularidad, calificación, votos) y los transforma en insights accionables.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794000"/>
            <a:ext cx="3492500" cy="355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304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683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Desempeño por Género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127500"/>
            <a:ext cx="298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gold_performance_genero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Identificar géneros atractivos para fortalecer el catálogo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50800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i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géneros tienen mejor desempeño reciente?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2794000"/>
            <a:ext cx="3492500" cy="355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3925" y="3048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6374" y="-16877"/>
                </a:moveTo>
                <a:cubicBezTo>
                  <a:pt x="272713" y="-24021"/>
                  <a:pt x="265301" y="-28575"/>
                  <a:pt x="257264" y="-28575"/>
                </a:cubicBezTo>
                <a:cubicBezTo>
                  <a:pt x="249228" y="-28575"/>
                  <a:pt x="241816" y="-24021"/>
                  <a:pt x="238155" y="-16877"/>
                </a:cubicBezTo>
                <a:lnTo>
                  <a:pt x="172432" y="111889"/>
                </a:lnTo>
                <a:lnTo>
                  <a:pt x="29647" y="134570"/>
                </a:lnTo>
                <a:cubicBezTo>
                  <a:pt x="21699" y="135821"/>
                  <a:pt x="15091" y="141446"/>
                  <a:pt x="12591" y="149126"/>
                </a:cubicBezTo>
                <a:cubicBezTo>
                  <a:pt x="10091" y="156805"/>
                  <a:pt x="12144" y="165199"/>
                  <a:pt x="17770" y="170914"/>
                </a:cubicBezTo>
                <a:lnTo>
                  <a:pt x="119926" y="273159"/>
                </a:lnTo>
                <a:lnTo>
                  <a:pt x="97423" y="415945"/>
                </a:lnTo>
                <a:cubicBezTo>
                  <a:pt x="96173" y="423892"/>
                  <a:pt x="99477" y="431929"/>
                  <a:pt x="105995" y="436662"/>
                </a:cubicBezTo>
                <a:cubicBezTo>
                  <a:pt x="112514" y="441394"/>
                  <a:pt x="121087" y="442109"/>
                  <a:pt x="128320" y="438448"/>
                </a:cubicBezTo>
                <a:lnTo>
                  <a:pt x="257264" y="372904"/>
                </a:lnTo>
                <a:lnTo>
                  <a:pt x="386120" y="438448"/>
                </a:lnTo>
                <a:cubicBezTo>
                  <a:pt x="393263" y="442109"/>
                  <a:pt x="401925" y="441394"/>
                  <a:pt x="408444" y="436662"/>
                </a:cubicBezTo>
                <a:cubicBezTo>
                  <a:pt x="414963" y="431929"/>
                  <a:pt x="418267" y="423982"/>
                  <a:pt x="417016" y="415945"/>
                </a:cubicBezTo>
                <a:lnTo>
                  <a:pt x="394424" y="273159"/>
                </a:lnTo>
                <a:lnTo>
                  <a:pt x="496580" y="170914"/>
                </a:lnTo>
                <a:cubicBezTo>
                  <a:pt x="502295" y="165199"/>
                  <a:pt x="504259" y="156805"/>
                  <a:pt x="501759" y="149126"/>
                </a:cubicBezTo>
                <a:cubicBezTo>
                  <a:pt x="499259" y="141446"/>
                  <a:pt x="492740" y="135821"/>
                  <a:pt x="484703" y="134570"/>
                </a:cubicBezTo>
                <a:lnTo>
                  <a:pt x="342007" y="111889"/>
                </a:lnTo>
                <a:lnTo>
                  <a:pt x="276374" y="-16877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0" y="3683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Ranking de Películas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0" y="4127500"/>
            <a:ext cx="298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gold_ranking_peliculas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Priorizar títulos por popularidad, calificación y votos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2500" y="50800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i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películas conviene recomendar o promocionar?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2794000"/>
            <a:ext cx="3492500" cy="355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9000" y="304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09000" y="3683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 Sobreexpuesto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4127500"/>
            <a:ext cx="298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gold_peliculas_sobreexpuestas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Detectar contenido que podría no cumplir expectativas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53975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i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películas son populares pero tienen baja calificación?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01500" y="2794000"/>
            <a:ext cx="3492500" cy="355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255500" y="304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5500" y="36830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Tendencias de Géneros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55500" y="4127500"/>
            <a:ext cx="298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gold_tendencia_generos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Detectar tendencias para adquisición y promoción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255500" y="5080000"/>
            <a:ext cx="2984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i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géneros están creciendo en popularidad?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731000"/>
            <a:ext cx="4699000" cy="1651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6921500"/>
            <a:ext cx="20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7747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Gold analíticas alineadas a preguntas de negocio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0" y="6731000"/>
            <a:ext cx="4699000" cy="1651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9" name="Text 27"/>
          <p:cNvSpPr/>
          <p:nvPr/>
        </p:nvSpPr>
        <p:spPr>
          <a:xfrm>
            <a:off x="5969000" y="6921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9000" y="7747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Películas nuevas ingresadas por ejecución automática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668000" y="6731000"/>
            <a:ext cx="4826000" cy="1651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2" name="Text 30"/>
          <p:cNvSpPr/>
          <p:nvPr/>
        </p:nvSpPr>
        <p:spPr>
          <a:xfrm>
            <a:off x="10922000" y="6921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22000" y="7747000"/>
            <a:ext cx="431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Semanales: ingesta programada lunes y viernes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Caso de Negocio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oakm7ykl2k76/mnt/agents/output/aws_tmdb_presentation/images/7_A_Complete_Guide_to_Data_Pipeli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E1A">
                  <a:alpha val="91000"/>
                </a:srgbClr>
              </a:gs>
              <a:gs pos="60000">
                <a:srgbClr val="0A0E1A">
                  <a:alpha val="75000"/>
                </a:srgbClr>
              </a:gs>
              <a:gs pos="100000">
                <a:srgbClr val="0A0E1A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381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Y TECNOLOGÍA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5207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 event-driven serverless en AWS con orquestación automatizada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 rot="2700000">
            <a:off x="13335000" y="5715000"/>
            <a:ext cx="1524000" cy="1524000"/>
          </a:xfrm>
          <a:prstGeom prst="rect">
            <a:avLst/>
          </a:prstGeom>
          <a:solidFill>
            <a:srgbClr val="FF9900">
              <a:alpha val="8235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 y Tecnología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Medallion con orquestación event-driven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2794000" cy="1016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5" name="Shape 3"/>
          <p:cNvSpPr/>
          <p:nvPr/>
        </p:nvSpPr>
        <p:spPr>
          <a:xfrm>
            <a:off x="974725" y="149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14605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TMDb API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de películas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56000" y="1714500"/>
            <a:ext cx="508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064000" y="1333500"/>
            <a:ext cx="2794000" cy="1016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9" name="Shape 7"/>
          <p:cNvSpPr/>
          <p:nvPr/>
        </p:nvSpPr>
        <p:spPr>
          <a:xfrm>
            <a:off x="42545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4699000" y="14605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EventBridge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Scheduler 2x/sem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1714500"/>
            <a:ext cx="508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366000" y="1333500"/>
            <a:ext cx="2794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578725" y="149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14605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Bronze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tmdb_to_bronze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0" y="1714500"/>
            <a:ext cx="508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668000" y="1333500"/>
            <a:ext cx="2794000" cy="1016000"/>
          </a:xfrm>
          <a:prstGeom prst="rect">
            <a:avLst/>
          </a:prstGeom>
          <a:solidFill>
            <a:srgbClr val="8B5A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58500" y="149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32157"/>
                  <a:pt x="9932" y="22225"/>
                  <a:pt x="22225" y="22225"/>
                </a:cubicBezTo>
                <a:lnTo>
                  <a:pt x="333375" y="22225"/>
                </a:lnTo>
                <a:cubicBezTo>
                  <a:pt x="345668" y="22225"/>
                  <a:pt x="355600" y="32157"/>
                  <a:pt x="355600" y="44450"/>
                </a:cubicBezTo>
                <a:lnTo>
                  <a:pt x="355600" y="66675"/>
                </a:lnTo>
                <a:cubicBezTo>
                  <a:pt x="355600" y="78968"/>
                  <a:pt x="345668" y="88900"/>
                  <a:pt x="33337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lnTo>
                  <a:pt x="0" y="44450"/>
                </a:lnTo>
                <a:close/>
                <a:moveTo>
                  <a:pt x="22225" y="122238"/>
                </a:moveTo>
                <a:lnTo>
                  <a:pt x="333375" y="122238"/>
                </a:lnTo>
                <a:lnTo>
                  <a:pt x="333375" y="288925"/>
                </a:lnTo>
                <a:cubicBezTo>
                  <a:pt x="333375" y="313442"/>
                  <a:pt x="313442" y="333375"/>
                  <a:pt x="288925" y="333375"/>
                </a:cubicBezTo>
                <a:lnTo>
                  <a:pt x="66675" y="333375"/>
                </a:lnTo>
                <a:cubicBezTo>
                  <a:pt x="42158" y="333375"/>
                  <a:pt x="22225" y="313442"/>
                  <a:pt x="22225" y="288925"/>
                </a:cubicBezTo>
                <a:lnTo>
                  <a:pt x="22225" y="122238"/>
                </a:lnTo>
                <a:close/>
                <a:moveTo>
                  <a:pt x="127794" y="166688"/>
                </a:moveTo>
                <a:cubicBezTo>
                  <a:pt x="118556" y="166688"/>
                  <a:pt x="111125" y="174119"/>
                  <a:pt x="111125" y="183356"/>
                </a:cubicBezTo>
                <a:cubicBezTo>
                  <a:pt x="111125" y="192594"/>
                  <a:pt x="118556" y="200025"/>
                  <a:pt x="127794" y="200025"/>
                </a:cubicBezTo>
                <a:lnTo>
                  <a:pt x="227806" y="200025"/>
                </a:lnTo>
                <a:cubicBezTo>
                  <a:pt x="237044" y="200025"/>
                  <a:pt x="244475" y="192594"/>
                  <a:pt x="244475" y="183356"/>
                </a:cubicBezTo>
                <a:cubicBezTo>
                  <a:pt x="244475" y="174119"/>
                  <a:pt x="237044" y="166688"/>
                  <a:pt x="227806" y="166688"/>
                </a:cubicBezTo>
                <a:lnTo>
                  <a:pt x="127794" y="166688"/>
                </a:lnTo>
                <a:close/>
              </a:path>
            </a:pathLst>
          </a:custGeom>
          <a:solidFill>
            <a:srgbClr val="E0E2E8"/>
          </a:solidFill>
          <a:ln/>
        </p:spPr>
      </p:sp>
      <p:sp>
        <p:nvSpPr>
          <p:cNvPr id="18" name="Text 16"/>
          <p:cNvSpPr/>
          <p:nvPr/>
        </p:nvSpPr>
        <p:spPr>
          <a:xfrm>
            <a:off x="11303000" y="14605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Bronze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1bronce/tmdb/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2413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200" kern="0" dirty="0">
                <a:solidFill>
                  <a:srgbClr val="8B5A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 BRONZE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65000" y="2349500"/>
            <a:ext cx="0" cy="44450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12192000" y="24384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Event Notify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66000" y="2921000"/>
            <a:ext cx="2794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3" name="Shape 21"/>
          <p:cNvSpPr/>
          <p:nvPr/>
        </p:nvSpPr>
        <p:spPr>
          <a:xfrm>
            <a:off x="7578725" y="3086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3048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Silver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bronce_to_silver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0" y="3302000"/>
            <a:ext cx="508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668000" y="2921000"/>
            <a:ext cx="2794000" cy="101600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58500" y="3086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32157"/>
                  <a:pt x="9932" y="22225"/>
                  <a:pt x="22225" y="22225"/>
                </a:cubicBezTo>
                <a:lnTo>
                  <a:pt x="333375" y="22225"/>
                </a:lnTo>
                <a:cubicBezTo>
                  <a:pt x="345668" y="22225"/>
                  <a:pt x="355600" y="32157"/>
                  <a:pt x="355600" y="44450"/>
                </a:cubicBezTo>
                <a:lnTo>
                  <a:pt x="355600" y="66675"/>
                </a:lnTo>
                <a:cubicBezTo>
                  <a:pt x="355600" y="78968"/>
                  <a:pt x="345668" y="88900"/>
                  <a:pt x="33337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lnTo>
                  <a:pt x="0" y="44450"/>
                </a:lnTo>
                <a:close/>
                <a:moveTo>
                  <a:pt x="22225" y="122238"/>
                </a:moveTo>
                <a:lnTo>
                  <a:pt x="333375" y="122238"/>
                </a:lnTo>
                <a:lnTo>
                  <a:pt x="333375" y="288925"/>
                </a:lnTo>
                <a:cubicBezTo>
                  <a:pt x="333375" y="313442"/>
                  <a:pt x="313442" y="333375"/>
                  <a:pt x="288925" y="333375"/>
                </a:cubicBezTo>
                <a:lnTo>
                  <a:pt x="66675" y="333375"/>
                </a:lnTo>
                <a:cubicBezTo>
                  <a:pt x="42158" y="333375"/>
                  <a:pt x="22225" y="313442"/>
                  <a:pt x="22225" y="288925"/>
                </a:cubicBezTo>
                <a:lnTo>
                  <a:pt x="22225" y="122238"/>
                </a:lnTo>
                <a:close/>
                <a:moveTo>
                  <a:pt x="127794" y="166688"/>
                </a:moveTo>
                <a:cubicBezTo>
                  <a:pt x="118556" y="166688"/>
                  <a:pt x="111125" y="174119"/>
                  <a:pt x="111125" y="183356"/>
                </a:cubicBezTo>
                <a:cubicBezTo>
                  <a:pt x="111125" y="192594"/>
                  <a:pt x="118556" y="200025"/>
                  <a:pt x="127794" y="200025"/>
                </a:cubicBezTo>
                <a:lnTo>
                  <a:pt x="227806" y="200025"/>
                </a:lnTo>
                <a:cubicBezTo>
                  <a:pt x="237044" y="200025"/>
                  <a:pt x="244475" y="192594"/>
                  <a:pt x="244475" y="183356"/>
                </a:cubicBezTo>
                <a:cubicBezTo>
                  <a:pt x="244475" y="174119"/>
                  <a:pt x="237044" y="166688"/>
                  <a:pt x="227806" y="166688"/>
                </a:cubicBezTo>
                <a:lnTo>
                  <a:pt x="127794" y="166688"/>
                </a:lnTo>
                <a:close/>
              </a:path>
            </a:pathLst>
          </a:custGeom>
          <a:solidFill>
            <a:srgbClr val="232F3E"/>
          </a:solidFill>
          <a:ln/>
        </p:spPr>
      </p:sp>
      <p:sp>
        <p:nvSpPr>
          <p:cNvPr id="28" name="Text 26"/>
          <p:cNvSpPr/>
          <p:nvPr/>
        </p:nvSpPr>
        <p:spPr>
          <a:xfrm>
            <a:off x="11303000" y="3048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Silver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2silver/movies/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66000" y="4000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200" kern="0" dirty="0">
                <a:solidFill>
                  <a:srgbClr val="8C92A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 SILVER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065000" y="3937000"/>
            <a:ext cx="0" cy="44450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12192000" y="4025900"/>
            <a:ext cx="165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Invoke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66000" y="4508500"/>
            <a:ext cx="2794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3" name="Shape 31"/>
          <p:cNvSpPr/>
          <p:nvPr/>
        </p:nvSpPr>
        <p:spPr>
          <a:xfrm>
            <a:off x="7578725" y="4673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0" y="46355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Gold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silver_to_gold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160000" y="4889500"/>
            <a:ext cx="508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0668000" y="4508500"/>
            <a:ext cx="2794000" cy="1016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58500" y="467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32157"/>
                  <a:pt x="9932" y="22225"/>
                  <a:pt x="22225" y="22225"/>
                </a:cubicBezTo>
                <a:lnTo>
                  <a:pt x="333375" y="22225"/>
                </a:lnTo>
                <a:cubicBezTo>
                  <a:pt x="345668" y="22225"/>
                  <a:pt x="355600" y="32157"/>
                  <a:pt x="355600" y="44450"/>
                </a:cubicBezTo>
                <a:lnTo>
                  <a:pt x="355600" y="66675"/>
                </a:lnTo>
                <a:cubicBezTo>
                  <a:pt x="355600" y="78968"/>
                  <a:pt x="345668" y="88900"/>
                  <a:pt x="33337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lnTo>
                  <a:pt x="0" y="44450"/>
                </a:lnTo>
                <a:close/>
                <a:moveTo>
                  <a:pt x="22225" y="122238"/>
                </a:moveTo>
                <a:lnTo>
                  <a:pt x="333375" y="122238"/>
                </a:lnTo>
                <a:lnTo>
                  <a:pt x="333375" y="288925"/>
                </a:lnTo>
                <a:cubicBezTo>
                  <a:pt x="333375" y="313442"/>
                  <a:pt x="313442" y="333375"/>
                  <a:pt x="288925" y="333375"/>
                </a:cubicBezTo>
                <a:lnTo>
                  <a:pt x="66675" y="333375"/>
                </a:lnTo>
                <a:cubicBezTo>
                  <a:pt x="42158" y="333375"/>
                  <a:pt x="22225" y="313442"/>
                  <a:pt x="22225" y="288925"/>
                </a:cubicBezTo>
                <a:lnTo>
                  <a:pt x="22225" y="122238"/>
                </a:lnTo>
                <a:close/>
                <a:moveTo>
                  <a:pt x="127794" y="166688"/>
                </a:moveTo>
                <a:cubicBezTo>
                  <a:pt x="118556" y="166688"/>
                  <a:pt x="111125" y="174119"/>
                  <a:pt x="111125" y="183356"/>
                </a:cubicBezTo>
                <a:cubicBezTo>
                  <a:pt x="111125" y="192594"/>
                  <a:pt x="118556" y="200025"/>
                  <a:pt x="127794" y="200025"/>
                </a:cubicBezTo>
                <a:lnTo>
                  <a:pt x="227806" y="200025"/>
                </a:lnTo>
                <a:cubicBezTo>
                  <a:pt x="237044" y="200025"/>
                  <a:pt x="244475" y="192594"/>
                  <a:pt x="244475" y="183356"/>
                </a:cubicBezTo>
                <a:cubicBezTo>
                  <a:pt x="244475" y="174119"/>
                  <a:pt x="237044" y="166688"/>
                  <a:pt x="227806" y="166688"/>
                </a:cubicBezTo>
                <a:lnTo>
                  <a:pt x="127794" y="166688"/>
                </a:lnTo>
                <a:close/>
              </a:path>
            </a:pathLst>
          </a:custGeom>
          <a:solidFill>
            <a:srgbClr val="232F3E"/>
          </a:solidFill>
          <a:ln/>
        </p:spPr>
      </p:sp>
      <p:sp>
        <p:nvSpPr>
          <p:cNvPr id="38" name="Text 36"/>
          <p:cNvSpPr/>
          <p:nvPr/>
        </p:nvSpPr>
        <p:spPr>
          <a:xfrm>
            <a:off x="11303000" y="46355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Gold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3gold/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66000" y="55880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200" kern="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 GOLD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065000" y="5524500"/>
            <a:ext cx="0" cy="44450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4064000" y="7493000"/>
            <a:ext cx="2794000" cy="1016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42" name="Shape 40"/>
          <p:cNvSpPr/>
          <p:nvPr/>
        </p:nvSpPr>
        <p:spPr>
          <a:xfrm>
            <a:off x="4254500" y="7658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3" name="Text 41"/>
          <p:cNvSpPr/>
          <p:nvPr/>
        </p:nvSpPr>
        <p:spPr>
          <a:xfrm>
            <a:off x="4699000" y="7620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Athena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CTAS Queries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58000" y="7874000"/>
            <a:ext cx="508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7366000" y="7493000"/>
            <a:ext cx="2794000" cy="1016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46" name="Shape 44"/>
          <p:cNvSpPr/>
          <p:nvPr/>
        </p:nvSpPr>
        <p:spPr>
          <a:xfrm>
            <a:off x="7578725" y="7658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0" y="7620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Glue Catalog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Metadatos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160000" y="7874000"/>
            <a:ext cx="508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10668000" y="7493000"/>
            <a:ext cx="2794000" cy="1016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36275" y="76581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51" name="Text 49"/>
          <p:cNvSpPr/>
          <p:nvPr/>
        </p:nvSpPr>
        <p:spPr>
          <a:xfrm>
            <a:off x="11303000" y="7620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ODBC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62000" y="2921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de datos automatizado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2000" y="3429000"/>
            <a:ext cx="6096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EventBridge inicia la ingesta 2x/semana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Lambda consulta TMDb API (5 páginas)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Datos crudos en S3 Bronze (NDJSON)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S3 Event Notification dispara Silver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Silver limpia y guarda Parquet en S3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Silver invoca Gold automáticamente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Gold crea tablas analíticas vía Athena CTAS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Power BI consume tablas Gold por ODBC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62000" y="6604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Orquestación 100% automatizada sin intervención manual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Cada capa desencadena la siguiente vía eventos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 y Tecnología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 tecnológico: 11 servicios AWS + Power BI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7048500"/>
        </p:xfrm>
        <a:graphic>
          <a:graphicData uri="http://schemas.openxmlformats.org/drawingml/2006/table">
            <a:tbl>
              <a:tblPr/>
              <a:tblGrid>
                <a:gridCol w="3241040"/>
                <a:gridCol w="11490960"/>
              </a:tblGrid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Función en el proyecto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Amazon S3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Lake principal. Almacena las tres capas: Bronze, Silver y Gold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AWS Lambda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Ejecuta ingesta Bronze, transformación Silver y generación Gold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EventBridge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Programa ingesta los lunes y viernes a las 8:00 a.m.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S3 Event Notification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Dispara automáticamente Lambda Silver al detectar archivo nuevo en Bronze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Glue Data Catalog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Catálogo de metadatos para consultar archivos S3 como tablas SQL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Glue Crawler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Detecta esquema y particiones en Silver; no transforma datos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Amazon Athena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Motor SQL para validar datos, crear tablas Gold CTAS y servir queries a Power BI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Secrets Manager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Almacena API Key y configuración sensible de TMDb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IAM Roles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Controla permisos entre Lambda, S3, Athena y Glue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Amazon EC2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Solo ambiente de desarrollo/pruebas; no forma parte del pipeline productivo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6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Power BI Desktop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Visualización conectada a Athena mediante ODBC genérico con driver Amazon Athena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53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Power BI Gateway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Preparado para actualización programada en producción via Power BI Service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 y Tecnología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automatizado: de la API a los insights en 6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1651000"/>
          </a:xfrm>
          <a:prstGeom prst="rect">
            <a:avLst/>
          </a:prstGeom>
          <a:solidFill>
            <a:srgbClr val="8B5A2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4986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15240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INGESTA BRONZE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1968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EventBridge ejecuta Lambda 2x/semana. Consulta /movie/popular páginas 1-5 de TMDb. Guarda ~100 películas en NDJSON con timestamp.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61000" y="2133600"/>
            <a:ext cx="381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842000" y="1397000"/>
            <a:ext cx="4699000" cy="1651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10" name="Text 8"/>
          <p:cNvSpPr/>
          <p:nvPr/>
        </p:nvSpPr>
        <p:spPr>
          <a:xfrm>
            <a:off x="6032500" y="1498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15240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EVENTO S3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1968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Event Notification detecta archivo nuevo en Bronze y activa automáticamente la Lambda de transformación Silver sin intervención.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41000" y="2133600"/>
            <a:ext cx="381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922000" y="1397000"/>
            <a:ext cx="4572000" cy="1651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1498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38000" y="1524000"/>
            <a:ext cx="336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TRANSFORMACIÓN SILVER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0" y="19685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Limpia datos, mapea géneros, convierte fechas, filtra vote_count ≥ 100, elimina duplicados y guarda en Parquet particionado.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48000" y="3048000"/>
            <a:ext cx="0" cy="38100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62000" y="3556000"/>
            <a:ext cx="4699000" cy="1651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3657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8000" y="36830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CATÁLOGO Y CRAWLER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2500" y="4127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Glue Data Catalog y Crawler detectan esquema, columnas nuevas y particiones en Silver. Athena puede consultar la tabla.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61000" y="4292600"/>
            <a:ext cx="381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842000" y="3556000"/>
            <a:ext cx="4699000" cy="1651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032500" y="3657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32F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3683000"/>
            <a:ext cx="349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32F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GENERACIÓN GOLD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2500" y="4127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Silver invoca Gold automáticamente. Gold limpia carpetas S3, recrea 4 tablas analíticas via Athena CTAS con ventana móvil 30 días.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41000" y="4292600"/>
            <a:ext cx="381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922000" y="3556000"/>
            <a:ext cx="4572000" cy="1651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0" name="Text 28"/>
          <p:cNvSpPr/>
          <p:nvPr/>
        </p:nvSpPr>
        <p:spPr>
          <a:xfrm>
            <a:off x="11112500" y="3657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938000" y="3683000"/>
            <a:ext cx="336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VISUALIZACIÓN POWER BI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12500" y="41275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consume tablas Gold via ODBC. Dashboard ejecutivo con KPIs, desempeño por género, ranking y tendencias.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558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Reglas de negocio clave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6032500"/>
            <a:ext cx="508000" cy="381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62865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Solo películas con vote_count ≥ 100 para evitar ratings poco representativos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15000" y="62865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Ventana móvil de 30 días en Gold para mantener análisis reciente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668000" y="62865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Registro más reciente por película; géneros separados con UNNEST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7366000"/>
            <a:ext cx="469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9" name="Text 37"/>
          <p:cNvSpPr/>
          <p:nvPr/>
        </p:nvSpPr>
        <p:spPr>
          <a:xfrm>
            <a:off x="1016000" y="74676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349500" y="7556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días de ventana móvil en capa Gold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15000" y="7366000"/>
            <a:ext cx="469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2" name="Text 40"/>
          <p:cNvSpPr/>
          <p:nvPr/>
        </p:nvSpPr>
        <p:spPr>
          <a:xfrm>
            <a:off x="5969000" y="74676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≥100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56500" y="75565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vote_count mínimo para inclusión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668000" y="7366000"/>
            <a:ext cx="4826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5" name="Text 43"/>
          <p:cNvSpPr/>
          <p:nvPr/>
        </p:nvSpPr>
        <p:spPr>
          <a:xfrm>
            <a:off x="10922000" y="74676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890500" y="7556500"/>
            <a:ext cx="241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automatizado end-to-end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 y Tecnología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381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IMPLEMENTACIÓN Y RESULTADOS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5207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Capas de datos, reglas de negocio, visualización ejecutiva y decisiones de arquitectura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 rot="2700000">
            <a:off x="13335000" y="5715000"/>
            <a:ext cx="1524000" cy="1524000"/>
          </a:xfrm>
          <a:prstGeom prst="rect">
            <a:avLst/>
          </a:prstGeom>
          <a:solidFill>
            <a:srgbClr val="FF9900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13970000" y="6604000"/>
            <a:ext cx="1016000" cy="1016000"/>
          </a:xfrm>
          <a:prstGeom prst="rect">
            <a:avLst/>
          </a:prstGeom>
          <a:solidFill>
            <a:srgbClr val="FF9900">
              <a:alpha val="6275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Implementación y Resultados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Cuatro tablas Gold que responden preguntas estratégicas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3683000"/>
        </p:xfrm>
        <a:graphic>
          <a:graphicData uri="http://schemas.openxmlformats.org/drawingml/2006/table">
            <a:tbl>
              <a:tblPr/>
              <a:tblGrid>
                <a:gridCol w="3683000"/>
                <a:gridCol w="4419600"/>
                <a:gridCol w="6629400"/>
              </a:tblGrid>
              <a:tr h="62445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Tabla Gold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Pregunta de negocio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Uso estratégico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7646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gold_performance_genero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¿Qué géneros tienen mejor desempeño reciente?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Identificar géneros atractivos para fortalecer el catálogo de streaming con datos de popularidad, calificación y votos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6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gold_ranking_peliculas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¿Qué películas conviene recomendar o promocionar?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Priorizar títulos con la mejor mezcla de popularidad, calificación promedio y volumen de votos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646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gold_peliculas_sobreexpuestas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¿Qué películas son populares pero tienen baja calificación?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Detectar contenido sobreexpuesto que podría no cumplir expectativas de la audiencia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46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gold_tendencia_generos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¿Qué géneros están creciendo en popularidad?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A1D2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Detectar tendencias recientes para adquisición temprana de contenido y campañas de promoción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33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Capas de datos del pipeline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5778500"/>
            <a:ext cx="508000" cy="381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032500"/>
            <a:ext cx="4699000" cy="1270000"/>
          </a:xfrm>
          <a:prstGeom prst="rect">
            <a:avLst/>
          </a:prstGeom>
          <a:solidFill>
            <a:srgbClr val="8B5A2B"/>
          </a:solidFill>
          <a:ln/>
        </p:spPr>
      </p:sp>
      <p:sp>
        <p:nvSpPr>
          <p:cNvPr id="8" name="Text 5"/>
          <p:cNvSpPr/>
          <p:nvPr/>
        </p:nvSpPr>
        <p:spPr>
          <a:xfrm>
            <a:off x="952500" y="6121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BRONZE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2500" y="64770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1bronce/tmdb/popular/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52500" y="6794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A57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crudos de TMDb por fecha de ingesta (NDJSON)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0" y="6032500"/>
            <a:ext cx="4699000" cy="1270000"/>
          </a:xfrm>
          <a:prstGeom prst="rect">
            <a:avLst/>
          </a:prstGeom>
          <a:solidFill>
            <a:srgbClr val="37475A"/>
          </a:solidFill>
          <a:ln/>
        </p:spPr>
      </p:sp>
      <p:sp>
        <p:nvSpPr>
          <p:cNvPr id="12" name="Text 9"/>
          <p:cNvSpPr/>
          <p:nvPr/>
        </p:nvSpPr>
        <p:spPr>
          <a:xfrm>
            <a:off x="5905500" y="6121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SILVER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905500" y="6477000"/>
            <a:ext cx="431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2silver/movies/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05500" y="6794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limpios, filtrados, en Parquet; conserva histórico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668000" y="6032500"/>
            <a:ext cx="4826000" cy="1270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3"/>
          <p:cNvSpPr/>
          <p:nvPr/>
        </p:nvSpPr>
        <p:spPr>
          <a:xfrm>
            <a:off x="10858500" y="61214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232F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858500" y="6477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3gold/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858500" y="67945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B374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analíticas para responder preguntas de negocio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61000" y="6604000"/>
            <a:ext cx="254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10414000" y="6604000"/>
            <a:ext cx="254000" cy="0"/>
          </a:xfrm>
          <a:prstGeom prst="straightConnector1">
            <a:avLst/>
          </a:prstGeom>
          <a:noFill/>
          <a:ln w="25400">
            <a:solidFill>
              <a:srgbClr val="FF9900"/>
            </a:solidFill>
            <a:prstDash val="solid"/>
            <a:headEnd type="none"/>
            <a:tailEnd type="arrow"/>
          </a:ln>
        </p:spPr>
      </p:sp>
      <p:sp>
        <p:nvSpPr>
          <p:cNvPr id="21" name="Text 18"/>
          <p:cNvSpPr/>
          <p:nvPr/>
        </p:nvSpPr>
        <p:spPr>
          <a:xfrm>
            <a:off x="762000" y="7493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 BI conectado a Athena por ODBC 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Ventana móvil 30 días 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Registro más reciente por película 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Géneros con UNNEST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Implementación y Resultados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ejecutivo en Power BI conectado al Data Lake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6858000" cy="70485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5875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CONFIGURACIÓN DE CONEXIÓN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79500" y="2095500"/>
            <a:ext cx="635000" cy="381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Shape 5"/>
          <p:cNvSpPr/>
          <p:nvPr/>
        </p:nvSpPr>
        <p:spPr>
          <a:xfrm>
            <a:off x="1101725" y="241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-22225"/>
                </a:moveTo>
                <a:cubicBezTo>
                  <a:pt x="101193" y="-22225"/>
                  <a:pt x="111125" y="-12293"/>
                  <a:pt x="111125" y="0"/>
                </a:cubicBezTo>
                <a:lnTo>
                  <a:pt x="111125" y="66675"/>
                </a:lnTo>
                <a:lnTo>
                  <a:pt x="200025" y="66675"/>
                </a:lnTo>
                <a:lnTo>
                  <a:pt x="200025" y="0"/>
                </a:lnTo>
                <a:cubicBezTo>
                  <a:pt x="200025" y="-12293"/>
                  <a:pt x="209957" y="-22225"/>
                  <a:pt x="222250" y="-22225"/>
                </a:cubicBezTo>
                <a:cubicBezTo>
                  <a:pt x="234543" y="-22225"/>
                  <a:pt x="244475" y="-12293"/>
                  <a:pt x="244475" y="0"/>
                </a:cubicBezTo>
                <a:lnTo>
                  <a:pt x="244475" y="66675"/>
                </a:ln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cubicBezTo>
                  <a:pt x="311150" y="101193"/>
                  <a:pt x="301218" y="111125"/>
                  <a:pt x="288925" y="111125"/>
                </a:cubicBezTo>
                <a:lnTo>
                  <a:pt x="288925" y="155575"/>
                </a:lnTo>
                <a:cubicBezTo>
                  <a:pt x="288925" y="221625"/>
                  <a:pt x="240863" y="276493"/>
                  <a:pt x="177800" y="287050"/>
                </a:cubicBezTo>
                <a:lnTo>
                  <a:pt x="177800" y="333375"/>
                </a:lnTo>
                <a:cubicBezTo>
                  <a:pt x="177800" y="345668"/>
                  <a:pt x="167868" y="355600"/>
                  <a:pt x="155575" y="355600"/>
                </a:cubicBezTo>
                <a:cubicBezTo>
                  <a:pt x="143282" y="355600"/>
                  <a:pt x="133350" y="345668"/>
                  <a:pt x="133350" y="333375"/>
                </a:cubicBezTo>
                <a:lnTo>
                  <a:pt x="133350" y="287050"/>
                </a:lnTo>
                <a:cubicBezTo>
                  <a:pt x="70287" y="276493"/>
                  <a:pt x="22225" y="221625"/>
                  <a:pt x="22225" y="15557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41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Conexión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7500" y="27686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ODBC genérico de Power BI usando el driver de Amazon Athena y DSN configurado para db_movies_tmdb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01725" y="361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1587500" y="361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 de datos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7500" y="39751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tablas Gold consultadas desde Athena: performance_genero, ranking_peliculas, peliculas_sobreexpuestas, tendencia_generos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4826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Actualización actual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7500" y="51816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en Power BI Desktop mediante botón Refresh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5905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7500" y="62611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Publicar en Power BI Service y programar refresh los lunes y viernes a las 09:00 usando Power BI Gateway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72390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tablas Gold · </a:t>
            </a:r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ODBC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Athena · </a:t>
            </a:r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semanal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1000" y="1460500"/>
            <a:ext cx="749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VISUALIZACIONES DEL DASHBOARD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1968500"/>
            <a:ext cx="635000" cy="381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001000" y="2286000"/>
            <a:ext cx="355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55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255000" y="29845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 Generales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55000" y="33274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 agregadas del catálogo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811000" y="2286000"/>
            <a:ext cx="3683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065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12065000" y="2984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Desempeño por Género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065000" y="33274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Comparativa de géneros populares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01000" y="4064000"/>
            <a:ext cx="355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4254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27000"/>
                </a:moveTo>
                <a:cubicBezTo>
                  <a:pt x="290751" y="127000"/>
                  <a:pt x="279400" y="115649"/>
                  <a:pt x="279400" y="101600"/>
                </a:cubicBezTo>
                <a:cubicBezTo>
                  <a:pt x="279400" y="87551"/>
                  <a:pt x="290751" y="76200"/>
                  <a:pt x="304800" y="76200"/>
                </a:cubicBezTo>
                <a:lnTo>
                  <a:pt x="431800" y="76200"/>
                </a:lnTo>
                <a:cubicBezTo>
                  <a:pt x="445849" y="76200"/>
                  <a:pt x="457200" y="87551"/>
                  <a:pt x="457200" y="101600"/>
                </a:cubicBezTo>
                <a:lnTo>
                  <a:pt x="457200" y="228600"/>
                </a:lnTo>
                <a:cubicBezTo>
                  <a:pt x="457200" y="242649"/>
                  <a:pt x="445849" y="254000"/>
                  <a:pt x="431800" y="254000"/>
                </a:cubicBezTo>
                <a:cubicBezTo>
                  <a:pt x="417751" y="254000"/>
                  <a:pt x="406400" y="242649"/>
                  <a:pt x="406400" y="228600"/>
                </a:cubicBezTo>
                <a:lnTo>
                  <a:pt x="406400" y="162957"/>
                </a:lnTo>
                <a:lnTo>
                  <a:pt x="271939" y="297418"/>
                </a:lnTo>
                <a:cubicBezTo>
                  <a:pt x="262017" y="307340"/>
                  <a:pt x="245904" y="307340"/>
                  <a:pt x="235982" y="297418"/>
                </a:cubicBezTo>
                <a:lnTo>
                  <a:pt x="152400" y="213757"/>
                </a:lnTo>
                <a:lnTo>
                  <a:pt x="43339" y="322739"/>
                </a:lnTo>
                <a:cubicBezTo>
                  <a:pt x="33417" y="332661"/>
                  <a:pt x="17304" y="332661"/>
                  <a:pt x="7382" y="322739"/>
                </a:cubicBezTo>
                <a:cubicBezTo>
                  <a:pt x="-2540" y="312817"/>
                  <a:pt x="-2540" y="296704"/>
                  <a:pt x="7382" y="286782"/>
                </a:cubicBezTo>
                <a:lnTo>
                  <a:pt x="134382" y="159782"/>
                </a:lnTo>
                <a:cubicBezTo>
                  <a:pt x="144304" y="149860"/>
                  <a:pt x="160417" y="149860"/>
                  <a:pt x="170339" y="159782"/>
                </a:cubicBezTo>
                <a:lnTo>
                  <a:pt x="254000" y="243443"/>
                </a:lnTo>
                <a:lnTo>
                  <a:pt x="370443" y="127000"/>
                </a:lnTo>
                <a:lnTo>
                  <a:pt x="304800" y="127000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255000" y="47625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Tendencias por Género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55000" y="5105400"/>
            <a:ext cx="304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Evolución temporal de popularidad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811000" y="4064000"/>
            <a:ext cx="3683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2039600" y="4254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5429" y="42942"/>
                </a:moveTo>
                <a:lnTo>
                  <a:pt x="236696" y="5001"/>
                </a:lnTo>
                <a:cubicBezTo>
                  <a:pt x="233601" y="-1588"/>
                  <a:pt x="223917" y="-1826"/>
                  <a:pt x="220504" y="5001"/>
                </a:cubicBezTo>
                <a:lnTo>
                  <a:pt x="201771" y="42942"/>
                </a:lnTo>
                <a:lnTo>
                  <a:pt x="160258" y="48895"/>
                </a:lnTo>
                <a:cubicBezTo>
                  <a:pt x="152876" y="50006"/>
                  <a:pt x="149701" y="59134"/>
                  <a:pt x="155178" y="64611"/>
                </a:cubicBezTo>
                <a:lnTo>
                  <a:pt x="185341" y="93980"/>
                </a:lnTo>
                <a:lnTo>
                  <a:pt x="178197" y="135334"/>
                </a:lnTo>
                <a:cubicBezTo>
                  <a:pt x="177086" y="142716"/>
                  <a:pt x="184706" y="148431"/>
                  <a:pt x="191532" y="145018"/>
                </a:cubicBezTo>
                <a:lnTo>
                  <a:pt x="228759" y="125333"/>
                </a:lnTo>
                <a:lnTo>
                  <a:pt x="265748" y="144701"/>
                </a:lnTo>
                <a:cubicBezTo>
                  <a:pt x="272574" y="148114"/>
                  <a:pt x="280273" y="142399"/>
                  <a:pt x="279083" y="135017"/>
                </a:cubicBezTo>
                <a:lnTo>
                  <a:pt x="271939" y="93663"/>
                </a:lnTo>
                <a:lnTo>
                  <a:pt x="302101" y="64611"/>
                </a:lnTo>
                <a:cubicBezTo>
                  <a:pt x="307499" y="59214"/>
                  <a:pt x="304403" y="50086"/>
                  <a:pt x="297021" y="48895"/>
                </a:cubicBezTo>
                <a:lnTo>
                  <a:pt x="255508" y="42942"/>
                </a:lnTo>
                <a:close/>
                <a:moveTo>
                  <a:pt x="203200" y="203200"/>
                </a:moveTo>
                <a:cubicBezTo>
                  <a:pt x="182166" y="203200"/>
                  <a:pt x="165100" y="220266"/>
                  <a:pt x="165100" y="241300"/>
                </a:cubicBezTo>
                <a:lnTo>
                  <a:pt x="165100" y="368300"/>
                </a:lnTo>
                <a:cubicBezTo>
                  <a:pt x="165100" y="389334"/>
                  <a:pt x="182166" y="406400"/>
                  <a:pt x="203200" y="406400"/>
                </a:cubicBezTo>
                <a:lnTo>
                  <a:pt x="254000" y="406400"/>
                </a:lnTo>
                <a:cubicBezTo>
                  <a:pt x="275034" y="406400"/>
                  <a:pt x="292100" y="389334"/>
                  <a:pt x="292100" y="368300"/>
                </a:cubicBezTo>
                <a:lnTo>
                  <a:pt x="292100" y="241300"/>
                </a:lnTo>
                <a:cubicBezTo>
                  <a:pt x="292100" y="220266"/>
                  <a:pt x="275034" y="203200"/>
                  <a:pt x="254000" y="203200"/>
                </a:cubicBezTo>
                <a:lnTo>
                  <a:pt x="203200" y="203200"/>
                </a:lnTo>
                <a:close/>
                <a:moveTo>
                  <a:pt x="38100" y="254000"/>
                </a:moveTo>
                <a:cubicBezTo>
                  <a:pt x="17066" y="254000"/>
                  <a:pt x="0" y="271066"/>
                  <a:pt x="0" y="292100"/>
                </a:cubicBezTo>
                <a:lnTo>
                  <a:pt x="0" y="368300"/>
                </a:lnTo>
                <a:cubicBezTo>
                  <a:pt x="0" y="389334"/>
                  <a:pt x="17066" y="406400"/>
                  <a:pt x="38100" y="406400"/>
                </a:cubicBezTo>
                <a:lnTo>
                  <a:pt x="88900" y="406400"/>
                </a:lnTo>
                <a:cubicBezTo>
                  <a:pt x="109934" y="406400"/>
                  <a:pt x="127000" y="389334"/>
                  <a:pt x="127000" y="368300"/>
                </a:cubicBezTo>
                <a:lnTo>
                  <a:pt x="127000" y="292100"/>
                </a:lnTo>
                <a:cubicBezTo>
                  <a:pt x="127000" y="271066"/>
                  <a:pt x="109934" y="254000"/>
                  <a:pt x="88900" y="254000"/>
                </a:cubicBezTo>
                <a:lnTo>
                  <a:pt x="38100" y="254000"/>
                </a:lnTo>
                <a:close/>
                <a:moveTo>
                  <a:pt x="330200" y="342900"/>
                </a:moveTo>
                <a:lnTo>
                  <a:pt x="330200" y="368300"/>
                </a:lnTo>
                <a:cubicBezTo>
                  <a:pt x="330200" y="389334"/>
                  <a:pt x="347266" y="406400"/>
                  <a:pt x="368300" y="406400"/>
                </a:cubicBezTo>
                <a:lnTo>
                  <a:pt x="419100" y="406400"/>
                </a:lnTo>
                <a:cubicBezTo>
                  <a:pt x="440134" y="406400"/>
                  <a:pt x="457200" y="389334"/>
                  <a:pt x="457200" y="368300"/>
                </a:cubicBezTo>
                <a:lnTo>
                  <a:pt x="457200" y="342900"/>
                </a:lnTo>
                <a:cubicBezTo>
                  <a:pt x="457200" y="321866"/>
                  <a:pt x="440134" y="304800"/>
                  <a:pt x="419100" y="304800"/>
                </a:cubicBezTo>
                <a:lnTo>
                  <a:pt x="368300" y="304800"/>
                </a:lnTo>
                <a:cubicBezTo>
                  <a:pt x="347266" y="304800"/>
                  <a:pt x="330200" y="321866"/>
                  <a:pt x="330200" y="34290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36" name="Text 34"/>
          <p:cNvSpPr/>
          <p:nvPr/>
        </p:nvSpPr>
        <p:spPr>
          <a:xfrm>
            <a:off x="12065000" y="4762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Ranking de Películas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065000" y="5105400"/>
            <a:ext cx="317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Títulos recomendables por score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01000" y="5842000"/>
            <a:ext cx="7493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55000" y="603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40" name="Text 38"/>
          <p:cNvSpPr/>
          <p:nvPr/>
        </p:nvSpPr>
        <p:spPr>
          <a:xfrm>
            <a:off x="8255000" y="654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Películas Sobreexpuestas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55000" y="6883400"/>
            <a:ext cx="698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Contenido popular pero con baja calificación que podría no cumplir expectativas de la audiencia</a:t>
            </a:r>
            <a:endParaRPr lang="en-US" sz="1600" dirty="0"/>
          </a:p>
        </p:txBody>
      </p:sp>
      <p:pic>
        <p:nvPicPr>
          <p:cNvPr id="42" name="Image 0" descr="https://kimi-img.moonshot.cn/pub/slides/okc/joakm7ykl2k76/mnt/agents/output/aws_tmdb_presentation/images/5_Modern_Cinematic_Movie_Streaming.png">    </p:cNvPr>
          <p:cNvPicPr>
            <a:picLocks noChangeAspect="1"/>
          </p:cNvPicPr>
          <p:nvPr/>
        </p:nvPicPr>
        <p:blipFill>
          <a:blip r:embed="rId1"/>
          <a:srcRect l="0" r="0" t="20000" b="30000"/>
          <a:stretch/>
        </p:blipFill>
        <p:spPr>
          <a:xfrm>
            <a:off x="8001000" y="7620000"/>
            <a:ext cx="7493000" cy="7620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Implementación y Resultados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Decisiones de arquitectura: simple, económico y escalable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se usaron Glue Jobs, EMR, Redshift, RDS ni QuickSight como componentes productivos. El volumen de datos es bajo y el objetivo académico se resuelve con servicios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serverless y bajo demanda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349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Servicios utilizados (stack serverless)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508000" cy="381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3048000"/>
            <a:ext cx="215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3213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32157"/>
                  <a:pt x="9932" y="22225"/>
                  <a:pt x="22225" y="22225"/>
                </a:cubicBezTo>
                <a:lnTo>
                  <a:pt x="333375" y="22225"/>
                </a:lnTo>
                <a:cubicBezTo>
                  <a:pt x="345668" y="22225"/>
                  <a:pt x="355600" y="32157"/>
                  <a:pt x="355600" y="44450"/>
                </a:cubicBezTo>
                <a:lnTo>
                  <a:pt x="355600" y="66675"/>
                </a:lnTo>
                <a:cubicBezTo>
                  <a:pt x="355600" y="78968"/>
                  <a:pt x="345668" y="88900"/>
                  <a:pt x="33337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lnTo>
                  <a:pt x="0" y="44450"/>
                </a:lnTo>
                <a:close/>
                <a:moveTo>
                  <a:pt x="22225" y="122238"/>
                </a:moveTo>
                <a:lnTo>
                  <a:pt x="333375" y="122238"/>
                </a:lnTo>
                <a:lnTo>
                  <a:pt x="333375" y="288925"/>
                </a:lnTo>
                <a:cubicBezTo>
                  <a:pt x="333375" y="313442"/>
                  <a:pt x="313442" y="333375"/>
                  <a:pt x="288925" y="333375"/>
                </a:cubicBezTo>
                <a:lnTo>
                  <a:pt x="66675" y="333375"/>
                </a:lnTo>
                <a:cubicBezTo>
                  <a:pt x="42158" y="333375"/>
                  <a:pt x="22225" y="313442"/>
                  <a:pt x="22225" y="288925"/>
                </a:cubicBezTo>
                <a:lnTo>
                  <a:pt x="22225" y="122238"/>
                </a:lnTo>
                <a:close/>
                <a:moveTo>
                  <a:pt x="127794" y="166688"/>
                </a:moveTo>
                <a:cubicBezTo>
                  <a:pt x="118556" y="166688"/>
                  <a:pt x="111125" y="174119"/>
                  <a:pt x="111125" y="183356"/>
                </a:cubicBezTo>
                <a:cubicBezTo>
                  <a:pt x="111125" y="192594"/>
                  <a:pt x="118556" y="200025"/>
                  <a:pt x="127794" y="200025"/>
                </a:cubicBezTo>
                <a:lnTo>
                  <a:pt x="227806" y="200025"/>
                </a:lnTo>
                <a:cubicBezTo>
                  <a:pt x="237044" y="200025"/>
                  <a:pt x="244475" y="192594"/>
                  <a:pt x="244475" y="183356"/>
                </a:cubicBezTo>
                <a:cubicBezTo>
                  <a:pt x="244475" y="174119"/>
                  <a:pt x="237044" y="166688"/>
                  <a:pt x="227806" y="166688"/>
                </a:cubicBezTo>
                <a:lnTo>
                  <a:pt x="127794" y="166688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397000" y="32131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 S3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Lake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11500" y="3048000"/>
            <a:ext cx="215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Shape 9"/>
          <p:cNvSpPr/>
          <p:nvPr/>
        </p:nvSpPr>
        <p:spPr>
          <a:xfrm>
            <a:off x="3324225" y="32131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6500" y="32131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1000" y="3048000"/>
            <a:ext cx="215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>
            <a:off x="5651500" y="3213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32131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EventBridge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254500"/>
            <a:ext cx="215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97000" y="44196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Athena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 SQL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11500" y="4254500"/>
            <a:ext cx="215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0" name="Shape 18"/>
          <p:cNvSpPr/>
          <p:nvPr/>
        </p:nvSpPr>
        <p:spPr>
          <a:xfrm>
            <a:off x="3324225" y="4419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3746500" y="44196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Glue Catalog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Metadatos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61000" y="4254500"/>
            <a:ext cx="2159000" cy="1016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629275" y="4419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6096000" y="44196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28000" y="2349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Servicios excluidos (no necesarios)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2794000"/>
            <a:ext cx="508000" cy="38100"/>
          </a:xfrm>
          <a:prstGeom prst="rect">
            <a:avLst/>
          </a:prstGeom>
          <a:solidFill>
            <a:srgbClr val="CC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8128000" y="3048000"/>
            <a:ext cx="736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C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Glue Jobs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ETL innecesario con Lambda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C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EMR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Overkill para volumen bajo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C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Redshift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warehouse no requerido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C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RDS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Base de datos relacional no necesaria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C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QuickSight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Power BI cubre visualización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5715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¿Por qué Power BI en lugar de QuickSight?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159500"/>
            <a:ext cx="508000" cy="381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6413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Power BI es estándar en la industria y permite crear dashboards ejecutivos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 agregar infraestructura permanente en AWS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D2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En producción, el reporte se publica en Power BI Service con actualización programada via Gateway, alineada con la ejecución del pipeline los lunes y viernes después de que Gold se regenera.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7493000"/>
            <a:ext cx="4699000" cy="889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75946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Serverless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pago por uso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5000" y="7493000"/>
            <a:ext cx="4699000" cy="889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5969000" y="75946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Bajo costo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sin servicios fijos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668000" y="7493000"/>
            <a:ext cx="4826000" cy="889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6" name="Text 34"/>
          <p:cNvSpPr/>
          <p:nvPr/>
        </p:nvSpPr>
        <p:spPr>
          <a:xfrm>
            <a:off x="10922000" y="75946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Escalable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listo para crecer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Implementación y Resultados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D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mejoras que transformaron un prototipo en solución productiva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762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 Y DATOS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52600"/>
            <a:ext cx="4699000" cy="25400"/>
          </a:xfrm>
          <a:prstGeom prst="rect">
            <a:avLst/>
          </a:prstGeom>
          <a:solidFill>
            <a:srgbClr val="E0E2E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685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Redefinición del caso de negocio hacia empresa de streaming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469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Ampliación de consultas TMDb de 1 página a 5 páginas por ejecución (~100 películas)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0005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EventBridge programado lunes y viernes con fecha de fin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143500"/>
            <a:ext cx="469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Agregado de source_page, ingestion_timestamp e ingestion_date para trazabilidad de snapshots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1333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TRANSFORMACIÓN Y GOLD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0" y="1752600"/>
            <a:ext cx="4699000" cy="25400"/>
          </a:xfrm>
          <a:prstGeom prst="rect">
            <a:avLst/>
          </a:prstGeom>
          <a:solidFill>
            <a:srgbClr val="E0E2E8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1968500"/>
            <a:ext cx="469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Silver actualizado para conservar más columnas útiles y escribir Parquet particionado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111500"/>
            <a:ext cx="469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 tablas Gold alineadas con preguntas de negocio específicas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4254500"/>
            <a:ext cx="469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Automatización de Gold: al terminar Silver, se invoca silver_tmdb_to_gold automáticamente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5143500"/>
            <a:ext cx="469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Limpieza automática de carpetas S3 Gold antes de recrear tablas CTAS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0" y="13335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VISUALIZACIÓN Y OPS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668000" y="1752600"/>
            <a:ext cx="4826000" cy="25400"/>
          </a:xfrm>
          <a:prstGeom prst="rect">
            <a:avLst/>
          </a:prstGeom>
          <a:solidFill>
            <a:srgbClr val="E0E2E8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0" y="19685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Ajustes de permisos IAM para invocación Lambda-to-Lambda, creación en Glue y borrado en S3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0" y="31115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 de visualización con Power BI Desktop conectado a Athena mediante ODBC genérico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0" y="40005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Power BI Gateway configurado para actualización programada del dashboard en producción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0" y="5143500"/>
            <a:ext cx="482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9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D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EC2 restringido a ambiente de desarrollo para reducir costos operativos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096000"/>
            <a:ext cx="14732000" cy="1270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6286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 un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prototipo manual de 1 página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un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productivo automatizado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E0E2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4 tablas analíticas, visualización ejecutiva y orquestación event-driven completa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493000"/>
            <a:ext cx="4699000" cy="889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7531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mejoras implementadas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0" y="7493000"/>
            <a:ext cx="4699000" cy="889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5969000" y="75311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intervención manual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68000" y="7493000"/>
            <a:ext cx="4826000" cy="889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922000" y="75311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5x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32F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más datos por ejecución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876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Implementación y Resultados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oakm7ykl2k76/mnt/agents/output/aws_tmdb_presentation/images/4_950_Aws_Cloud_Background_Royalty.png">    </p:cNvPr>
          <p:cNvPicPr>
            <a:picLocks noChangeAspect="1"/>
          </p:cNvPicPr>
          <p:nvPr/>
        </p:nvPicPr>
        <p:blipFill>
          <a:blip r:embed="rId1"/>
          <a:srcRect l="74" r="7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E1A">
                  <a:alpha val="91000"/>
                </a:srgbClr>
              </a:gs>
              <a:gs pos="50000">
                <a:srgbClr val="0A0E1A">
                  <a:alpha val="82000"/>
                </a:srgbClr>
              </a:gs>
              <a:gs pos="100000">
                <a:srgbClr val="0A0E1A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spc="300" kern="0" dirty="0">
                <a:solidFill>
                  <a:srgbClr val="FF990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16000" y="2794000"/>
            <a:ext cx="1016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200" spc="200" kern="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PRODUCTIVO</a:t>
            </a:r>
            <a:endParaRPr lang="en-US" sz="5200" dirty="0"/>
          </a:p>
          <a:p>
            <a:pPr>
              <a:lnSpc>
                <a:spcPct val="110000"/>
              </a:lnSpc>
            </a:pPr>
            <a:r>
              <a:rPr lang="en-US" sz="5200" spc="200" kern="0" dirty="0">
                <a:solidFill>
                  <a:srgbClr val="E0E2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LISTO PARA ESCALAR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1016000" y="4699000"/>
            <a:ext cx="1016000" cy="50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16500"/>
            <a:ext cx="889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0E2E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Arquitectura serverless automatizada que transforma datos de TMDb en insights ejecutivos para decisiones de contenido audiovisual. El pipeline puede extenderse a otras fuentes, aumentar frecuencia de ingesta o migrar a nuevas herramientas de visualización sin rediseño.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6000" y="6921500"/>
            <a:ext cx="254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Gold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0" y="6921500"/>
            <a:ext cx="254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Servicios AWS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04000" y="6921500"/>
            <a:ext cx="254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rgbClr val="FF9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0$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C92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 fija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2700000">
            <a:off x="13335000" y="5715000"/>
            <a:ext cx="1524000" cy="1524000"/>
          </a:xfrm>
          <a:prstGeom prst="rect">
            <a:avLst/>
          </a:prstGeom>
          <a:solidFill>
            <a:srgbClr val="FF9900">
              <a:alpha val="8235"/>
            </a:srgbClr>
          </a:solidFill>
          <a:ln/>
        </p:spPr>
      </p:sp>
      <p:sp>
        <p:nvSpPr>
          <p:cNvPr id="12" name="Shape 9"/>
          <p:cNvSpPr/>
          <p:nvPr/>
        </p:nvSpPr>
        <p:spPr>
          <a:xfrm rot="2700000">
            <a:off x="13970000" y="6604000"/>
            <a:ext cx="1016000" cy="1016000"/>
          </a:xfrm>
          <a:prstGeom prst="rect">
            <a:avLst/>
          </a:prstGeom>
          <a:solidFill>
            <a:srgbClr val="FF9900">
              <a:alpha val="6275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81915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92A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 de Datos AWS - TMDb | Mayo 2026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Datos AWS - Analítica de Películas TMDb</dc:title>
  <dc:subject>Pipeline de Datos AWS - Analítica de Películas TMDb</dc:subject>
  <dc:creator>Kimi</dc:creator>
  <cp:lastModifiedBy>Kimi</cp:lastModifiedBy>
  <cp:revision>1</cp:revision>
  <dcterms:created xsi:type="dcterms:W3CDTF">2026-05-26T21:08:35Z</dcterms:created>
  <dcterms:modified xsi:type="dcterms:W3CDTF">2026-05-26T21:08:35Z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{"Label":"Pipeline de Datos AWS - Analítica de Películas TMDb","ContentProducer":"001191110108MACG2KBH8F10000","ProduceID":"19e65f8a-ee32-80e9-8000-00009a4be62b","ReservedCode1":"","ContentPropagator":"001191110108MACG2KBH8F20000","PropagateID":"19e65f8a-ee32-80e9-8000-00009a4be62b","ReservedCode2":""}</vt:lpwstr>
  </property>
</Properties>
</file>